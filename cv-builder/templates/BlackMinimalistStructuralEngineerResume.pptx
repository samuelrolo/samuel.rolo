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Lato Heavy" charset="1" panose="020F0502020204030203"/>
      <p:regular r:id="rId7"/>
    </p:embeddedFont>
    <p:embeddedFont>
      <p:font typeface="Lato" charset="1" panose="020F0502020204030203"/>
      <p:regular r:id="rId8"/>
    </p:embeddedFont>
    <p:embeddedFont>
      <p:font typeface="Lato Italics" charset="1" panose="020F0502020204030203"/>
      <p:regular r:id="rId9"/>
    </p:embeddedFont>
    <p:embeddedFont>
      <p:font typeface="Lato Bold" charset="1" panose="020F0502020204030203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-461238" y="-232497"/>
            <a:ext cx="4463085" cy="4456115"/>
            <a:chOff x="0" y="0"/>
            <a:chExt cx="6505499" cy="64953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05500" cy="6495340"/>
            </a:xfrm>
            <a:custGeom>
              <a:avLst/>
              <a:gdLst/>
              <a:ahLst/>
              <a:cxnLst/>
              <a:rect r="r" b="b" t="t" l="l"/>
              <a:pathLst>
                <a:path h="6495340" w="6505500">
                  <a:moveTo>
                    <a:pt x="6505500" y="6495340"/>
                  </a:moveTo>
                  <a:lnTo>
                    <a:pt x="0" y="6495340"/>
                  </a:lnTo>
                  <a:lnTo>
                    <a:pt x="0" y="0"/>
                  </a:lnTo>
                  <a:lnTo>
                    <a:pt x="6505500" y="6495340"/>
                  </a:lnTo>
                  <a:close/>
                </a:path>
              </a:pathLst>
            </a:custGeom>
            <a:solidFill>
              <a:srgbClr val="FFDE59"/>
            </a:solid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6553614" y="9679128"/>
            <a:ext cx="1165239" cy="1163419"/>
            <a:chOff x="0" y="0"/>
            <a:chExt cx="6505499" cy="64953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05500" cy="6495340"/>
            </a:xfrm>
            <a:custGeom>
              <a:avLst/>
              <a:gdLst/>
              <a:ahLst/>
              <a:cxnLst/>
              <a:rect r="r" b="b" t="t" l="l"/>
              <a:pathLst>
                <a:path h="6495340" w="6505500">
                  <a:moveTo>
                    <a:pt x="6505500" y="6495340"/>
                  </a:moveTo>
                  <a:lnTo>
                    <a:pt x="0" y="6495340"/>
                  </a:lnTo>
                  <a:lnTo>
                    <a:pt x="0" y="0"/>
                  </a:lnTo>
                  <a:lnTo>
                    <a:pt x="6505500" y="6495340"/>
                  </a:lnTo>
                  <a:close/>
                </a:path>
              </a:pathLst>
            </a:custGeom>
            <a:solidFill>
              <a:srgbClr val="080E15"/>
            </a:solidFill>
          </p:spPr>
        </p:sp>
      </p:grpSp>
      <p:sp>
        <p:nvSpPr>
          <p:cNvPr name="AutoShape 6" id="6"/>
          <p:cNvSpPr/>
          <p:nvPr/>
        </p:nvSpPr>
        <p:spPr>
          <a:xfrm rot="0">
            <a:off x="3347185" y="998831"/>
            <a:ext cx="3577177" cy="0"/>
          </a:xfrm>
          <a:prstGeom prst="line">
            <a:avLst/>
          </a:prstGeom>
          <a:ln cap="flat" w="9525">
            <a:solidFill>
              <a:srgbClr val="080E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0">
            <a:off x="3347185" y="3665789"/>
            <a:ext cx="3577177" cy="0"/>
          </a:xfrm>
          <a:prstGeom prst="line">
            <a:avLst/>
          </a:prstGeom>
          <a:ln cap="flat" w="9525">
            <a:solidFill>
              <a:srgbClr val="080E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0">
            <a:off x="635638" y="4801144"/>
            <a:ext cx="2261558" cy="0"/>
          </a:xfrm>
          <a:prstGeom prst="line">
            <a:avLst/>
          </a:prstGeom>
          <a:ln cap="flat" w="9525">
            <a:solidFill>
              <a:srgbClr val="080E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0">
            <a:off x="635638" y="6803495"/>
            <a:ext cx="2261558" cy="0"/>
          </a:xfrm>
          <a:prstGeom prst="line">
            <a:avLst/>
          </a:prstGeom>
          <a:ln cap="flat" w="9525">
            <a:solidFill>
              <a:srgbClr val="080E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0">
            <a:off x="3347185" y="7607511"/>
            <a:ext cx="3577177" cy="0"/>
          </a:xfrm>
          <a:prstGeom prst="line">
            <a:avLst/>
          </a:prstGeom>
          <a:ln cap="flat" w="9525">
            <a:solidFill>
              <a:srgbClr val="080E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0">
            <a:off x="3347185" y="1437857"/>
            <a:ext cx="3577177" cy="0"/>
          </a:xfrm>
          <a:prstGeom prst="line">
            <a:avLst/>
          </a:prstGeom>
          <a:ln cap="flat" w="9525">
            <a:solidFill>
              <a:srgbClr val="080E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0">
            <a:off x="3347185" y="4104815"/>
            <a:ext cx="3577177" cy="0"/>
          </a:xfrm>
          <a:prstGeom prst="line">
            <a:avLst/>
          </a:prstGeom>
          <a:ln cap="flat" w="9525">
            <a:solidFill>
              <a:srgbClr val="080E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0">
            <a:off x="635638" y="5240170"/>
            <a:ext cx="2261558" cy="0"/>
          </a:xfrm>
          <a:prstGeom prst="line">
            <a:avLst/>
          </a:prstGeom>
          <a:ln cap="flat" w="9525">
            <a:solidFill>
              <a:srgbClr val="080E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0">
            <a:off x="635638" y="7242521"/>
            <a:ext cx="2261558" cy="0"/>
          </a:xfrm>
          <a:prstGeom prst="line">
            <a:avLst/>
          </a:prstGeom>
          <a:ln cap="flat" w="9525">
            <a:solidFill>
              <a:srgbClr val="080E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0">
            <a:off x="3347185" y="8036177"/>
            <a:ext cx="3577177" cy="0"/>
          </a:xfrm>
          <a:prstGeom prst="line">
            <a:avLst/>
          </a:prstGeom>
          <a:ln cap="flat" w="9525">
            <a:solidFill>
              <a:srgbClr val="080E1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635638" y="-117580"/>
            <a:ext cx="2261558" cy="3249610"/>
          </a:xfrm>
          <a:custGeom>
            <a:avLst/>
            <a:gdLst/>
            <a:ahLst/>
            <a:cxnLst/>
            <a:rect r="r" b="b" t="t" l="l"/>
            <a:pathLst>
              <a:path h="3249610" w="2261558">
                <a:moveTo>
                  <a:pt x="0" y="0"/>
                </a:moveTo>
                <a:lnTo>
                  <a:pt x="2261558" y="0"/>
                </a:lnTo>
                <a:lnTo>
                  <a:pt x="2261558" y="3249610"/>
                </a:lnTo>
                <a:lnTo>
                  <a:pt x="0" y="3249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6712" t="0" r="-7076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5400000">
            <a:off x="2294309" y="2529261"/>
            <a:ext cx="678789" cy="677729"/>
            <a:chOff x="0" y="0"/>
            <a:chExt cx="6505499" cy="64953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05500" cy="6495340"/>
            </a:xfrm>
            <a:custGeom>
              <a:avLst/>
              <a:gdLst/>
              <a:ahLst/>
              <a:cxnLst/>
              <a:rect r="r" b="b" t="t" l="l"/>
              <a:pathLst>
                <a:path h="6495340" w="6505500">
                  <a:moveTo>
                    <a:pt x="6505500" y="6495340"/>
                  </a:moveTo>
                  <a:lnTo>
                    <a:pt x="0" y="6495340"/>
                  </a:lnTo>
                  <a:lnTo>
                    <a:pt x="0" y="0"/>
                  </a:lnTo>
                  <a:lnTo>
                    <a:pt x="6505500" y="64953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5400000">
            <a:off x="-459403" y="-415873"/>
            <a:ext cx="2113336" cy="2110035"/>
            <a:chOff x="0" y="0"/>
            <a:chExt cx="6505499" cy="649533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05500" cy="6495340"/>
            </a:xfrm>
            <a:custGeom>
              <a:avLst/>
              <a:gdLst/>
              <a:ahLst/>
              <a:cxnLst/>
              <a:rect r="r" b="b" t="t" l="l"/>
              <a:pathLst>
                <a:path h="6495340" w="6505500">
                  <a:moveTo>
                    <a:pt x="6505500" y="6495340"/>
                  </a:moveTo>
                  <a:lnTo>
                    <a:pt x="0" y="6495340"/>
                  </a:lnTo>
                  <a:lnTo>
                    <a:pt x="0" y="0"/>
                  </a:lnTo>
                  <a:lnTo>
                    <a:pt x="6505500" y="64953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496529" y="8190293"/>
            <a:ext cx="1557636" cy="285567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496529" y="8428030"/>
            <a:ext cx="1557636" cy="285567"/>
          </a:xfrm>
          <a:prstGeom prst="rect">
            <a:avLst/>
          </a:prstGeom>
        </p:spPr>
      </p:pic>
      <p:sp>
        <p:nvSpPr>
          <p:cNvPr name="Freeform 23" id="23"/>
          <p:cNvSpPr/>
          <p:nvPr/>
        </p:nvSpPr>
        <p:spPr>
          <a:xfrm flipH="false" flipV="false" rot="0">
            <a:off x="6761443" y="8290520"/>
            <a:ext cx="85113" cy="85113"/>
          </a:xfrm>
          <a:custGeom>
            <a:avLst/>
            <a:gdLst/>
            <a:ahLst/>
            <a:cxnLst/>
            <a:rect r="r" b="b" t="t" l="l"/>
            <a:pathLst>
              <a:path h="85113" w="85113">
                <a:moveTo>
                  <a:pt x="0" y="0"/>
                </a:moveTo>
                <a:lnTo>
                  <a:pt x="85114" y="0"/>
                </a:lnTo>
                <a:lnTo>
                  <a:pt x="85114" y="85113"/>
                </a:lnTo>
                <a:lnTo>
                  <a:pt x="0" y="85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445474" y="8528257"/>
            <a:ext cx="85113" cy="85113"/>
          </a:xfrm>
          <a:custGeom>
            <a:avLst/>
            <a:gdLst/>
            <a:ahLst/>
            <a:cxnLst/>
            <a:rect r="r" b="b" t="t" l="l"/>
            <a:pathLst>
              <a:path h="85113" w="85113">
                <a:moveTo>
                  <a:pt x="0" y="0"/>
                </a:moveTo>
                <a:lnTo>
                  <a:pt x="85114" y="0"/>
                </a:lnTo>
                <a:lnTo>
                  <a:pt x="85114" y="85113"/>
                </a:lnTo>
                <a:lnTo>
                  <a:pt x="0" y="85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496529" y="8665767"/>
            <a:ext cx="1557636" cy="285567"/>
          </a:xfrm>
          <a:prstGeom prst="rect">
            <a:avLst/>
          </a:prstGeom>
        </p:spPr>
      </p:pic>
      <p:sp>
        <p:nvSpPr>
          <p:cNvPr name="Freeform 26" id="26"/>
          <p:cNvSpPr/>
          <p:nvPr/>
        </p:nvSpPr>
        <p:spPr>
          <a:xfrm flipH="false" flipV="false" rot="0">
            <a:off x="6839249" y="8765994"/>
            <a:ext cx="85113" cy="85113"/>
          </a:xfrm>
          <a:custGeom>
            <a:avLst/>
            <a:gdLst/>
            <a:ahLst/>
            <a:cxnLst/>
            <a:rect r="r" b="b" t="t" l="l"/>
            <a:pathLst>
              <a:path h="85113" w="85113">
                <a:moveTo>
                  <a:pt x="0" y="0"/>
                </a:moveTo>
                <a:lnTo>
                  <a:pt x="85113" y="0"/>
                </a:lnTo>
                <a:lnTo>
                  <a:pt x="85113" y="85113"/>
                </a:lnTo>
                <a:lnTo>
                  <a:pt x="0" y="85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496529" y="8903504"/>
            <a:ext cx="1557636" cy="285567"/>
          </a:xfrm>
          <a:prstGeom prst="rect">
            <a:avLst/>
          </a:prstGeom>
        </p:spPr>
      </p:pic>
      <p:sp>
        <p:nvSpPr>
          <p:cNvPr name="Freeform 28" id="28"/>
          <p:cNvSpPr/>
          <p:nvPr/>
        </p:nvSpPr>
        <p:spPr>
          <a:xfrm flipH="false" flipV="false" rot="0">
            <a:off x="6644112" y="9003730"/>
            <a:ext cx="85113" cy="85113"/>
          </a:xfrm>
          <a:custGeom>
            <a:avLst/>
            <a:gdLst/>
            <a:ahLst/>
            <a:cxnLst/>
            <a:rect r="r" b="b" t="t" l="l"/>
            <a:pathLst>
              <a:path h="85113" w="85113">
                <a:moveTo>
                  <a:pt x="0" y="0"/>
                </a:moveTo>
                <a:lnTo>
                  <a:pt x="85113" y="0"/>
                </a:lnTo>
                <a:lnTo>
                  <a:pt x="85113" y="85114"/>
                </a:lnTo>
                <a:lnTo>
                  <a:pt x="0" y="851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496529" y="9141241"/>
            <a:ext cx="1557636" cy="285567"/>
          </a:xfrm>
          <a:prstGeom prst="rect">
            <a:avLst/>
          </a:prstGeom>
        </p:spPr>
      </p:pic>
      <p:sp>
        <p:nvSpPr>
          <p:cNvPr name="Freeform 30" id="30"/>
          <p:cNvSpPr/>
          <p:nvPr/>
        </p:nvSpPr>
        <p:spPr>
          <a:xfrm flipH="false" flipV="false" rot="0">
            <a:off x="6754135" y="9241467"/>
            <a:ext cx="85113" cy="85113"/>
          </a:xfrm>
          <a:custGeom>
            <a:avLst/>
            <a:gdLst/>
            <a:ahLst/>
            <a:cxnLst/>
            <a:rect r="r" b="b" t="t" l="l"/>
            <a:pathLst>
              <a:path h="85113" w="85113">
                <a:moveTo>
                  <a:pt x="0" y="0"/>
                </a:moveTo>
                <a:lnTo>
                  <a:pt x="85114" y="0"/>
                </a:lnTo>
                <a:lnTo>
                  <a:pt x="85114" y="85114"/>
                </a:lnTo>
                <a:lnTo>
                  <a:pt x="0" y="851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496529" y="9378978"/>
            <a:ext cx="1557636" cy="285567"/>
          </a:xfrm>
          <a:prstGeom prst="rect">
            <a:avLst/>
          </a:prstGeom>
        </p:spPr>
      </p:pic>
      <p:sp>
        <p:nvSpPr>
          <p:cNvPr name="Freeform 32" id="32"/>
          <p:cNvSpPr/>
          <p:nvPr/>
        </p:nvSpPr>
        <p:spPr>
          <a:xfrm flipH="false" flipV="false" rot="0">
            <a:off x="6445474" y="9479204"/>
            <a:ext cx="85113" cy="85113"/>
          </a:xfrm>
          <a:custGeom>
            <a:avLst/>
            <a:gdLst/>
            <a:ahLst/>
            <a:cxnLst/>
            <a:rect r="r" b="b" t="t" l="l"/>
            <a:pathLst>
              <a:path h="85113" w="85113">
                <a:moveTo>
                  <a:pt x="0" y="0"/>
                </a:moveTo>
                <a:lnTo>
                  <a:pt x="85114" y="0"/>
                </a:lnTo>
                <a:lnTo>
                  <a:pt x="85114" y="85114"/>
                </a:lnTo>
                <a:lnTo>
                  <a:pt x="0" y="851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496529" y="9616714"/>
            <a:ext cx="1557636" cy="285567"/>
          </a:xfrm>
          <a:prstGeom prst="rect">
            <a:avLst/>
          </a:prstGeom>
        </p:spPr>
      </p:pic>
      <p:sp>
        <p:nvSpPr>
          <p:cNvPr name="Freeform 34" id="34"/>
          <p:cNvSpPr/>
          <p:nvPr/>
        </p:nvSpPr>
        <p:spPr>
          <a:xfrm flipH="false" flipV="false" rot="0">
            <a:off x="6669022" y="9716941"/>
            <a:ext cx="85113" cy="85113"/>
          </a:xfrm>
          <a:custGeom>
            <a:avLst/>
            <a:gdLst/>
            <a:ahLst/>
            <a:cxnLst/>
            <a:rect r="r" b="b" t="t" l="l"/>
            <a:pathLst>
              <a:path h="85113" w="85113">
                <a:moveTo>
                  <a:pt x="0" y="0"/>
                </a:moveTo>
                <a:lnTo>
                  <a:pt x="85113" y="0"/>
                </a:lnTo>
                <a:lnTo>
                  <a:pt x="85113" y="85113"/>
                </a:lnTo>
                <a:lnTo>
                  <a:pt x="0" y="85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643414" y="3369445"/>
            <a:ext cx="2253782" cy="75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1"/>
              </a:lnSpc>
            </a:pPr>
            <a:r>
              <a:rPr lang="en-US" sz="2799" b="true">
                <a:solidFill>
                  <a:srgbClr val="080E15"/>
                </a:solidFill>
                <a:latin typeface="Lato Heavy"/>
                <a:ea typeface="Lato Heavy"/>
                <a:cs typeface="Lato Heavy"/>
                <a:sym typeface="Lato Heavy"/>
              </a:rPr>
              <a:t>Alexander Aronowitz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35638" y="4217579"/>
            <a:ext cx="2261558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80E15"/>
                </a:solidFill>
                <a:latin typeface="Lato"/>
                <a:ea typeface="Lato"/>
                <a:cs typeface="Lato"/>
                <a:sym typeface="Lato"/>
              </a:rPr>
              <a:t>STRUCTURAL ENGINEER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347185" y="1626804"/>
            <a:ext cx="3577177" cy="152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80E15"/>
                </a:solidFill>
                <a:latin typeface="Lato"/>
                <a:ea typeface="Lato"/>
                <a:cs typeface="Lato"/>
                <a:sym typeface="Lato"/>
              </a:rPr>
              <a:t>An experienced mining engineer who provides comprehensive and calculated risk and cost assessments. Assisted geologists and experienced miners with the construction of mines to achieve practical results. Served as a trainer and supervisor of new personnel in the use of specialized mining equipment and safety procedures. Maintain continuous compliance by staying informed of industry regulations and legislation.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347185" y="1088562"/>
            <a:ext cx="1828636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pc="420">
                <a:solidFill>
                  <a:srgbClr val="080E15"/>
                </a:solidFill>
                <a:latin typeface="Lato Heavy"/>
                <a:ea typeface="Lato Heavy"/>
                <a:cs typeface="Lato Heavy"/>
                <a:sym typeface="Lato Heavy"/>
              </a:rPr>
              <a:t>SUMMARY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347185" y="3735823"/>
            <a:ext cx="1828636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pc="420" u="none">
                <a:solidFill>
                  <a:srgbClr val="080E15"/>
                </a:solidFill>
                <a:latin typeface="Lato Heavy"/>
                <a:ea typeface="Lato Heavy"/>
                <a:cs typeface="Lato Heavy"/>
                <a:sym typeface="Lato Heavy"/>
              </a:rPr>
              <a:t>EXPERIENCE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347185" y="4597377"/>
            <a:ext cx="2858529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i="true">
                <a:solidFill>
                  <a:srgbClr val="080E15"/>
                </a:solidFill>
                <a:latin typeface="Lato Italics"/>
                <a:ea typeface="Lato Italics"/>
                <a:cs typeface="Lato Italics"/>
                <a:sym typeface="Lato Italics"/>
              </a:rPr>
              <a:t>Junior Structural Engineer / 2015-2019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347185" y="6263216"/>
            <a:ext cx="2858529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i="true">
                <a:solidFill>
                  <a:srgbClr val="080E15"/>
                </a:solidFill>
                <a:latin typeface="Lato Italics"/>
                <a:ea typeface="Lato Italics"/>
                <a:cs typeface="Lato Italics"/>
                <a:sym typeface="Lato Italics"/>
              </a:rPr>
              <a:t>Senior Structural Engineer / 2019 - present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347185" y="4836137"/>
            <a:ext cx="3551728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080E15"/>
                </a:solidFill>
                <a:latin typeface="Lato"/>
                <a:ea typeface="Lato"/>
                <a:cs typeface="Lato"/>
                <a:sym typeface="Lato"/>
              </a:rPr>
              <a:t>Visit construction sites to collaborate with construction personnel and to ensure compliance with design parameters and regulations. </a:t>
            </a:r>
          </a:p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080E15"/>
                </a:solidFill>
                <a:latin typeface="Lato"/>
                <a:ea typeface="Lato"/>
                <a:cs typeface="Lato"/>
                <a:sym typeface="Lato"/>
              </a:rPr>
              <a:t>Provide technical advice to industrial personnel regarding design, construction, and structural repair.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347185" y="6501976"/>
            <a:ext cx="3551728" cy="762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080E15"/>
                </a:solidFill>
                <a:latin typeface="Lato"/>
                <a:ea typeface="Lato"/>
                <a:cs typeface="Lato"/>
                <a:sym typeface="Lato"/>
              </a:rPr>
              <a:t>Supervise the construction of more than two new buildings and bridges each month. - Presented zoning laws, fire regulations, and building codes to city and county government agencies.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347185" y="4337909"/>
            <a:ext cx="2858529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080E15"/>
                </a:solidFill>
                <a:latin typeface="Lato Bold"/>
                <a:ea typeface="Lato Bold"/>
                <a:cs typeface="Lato Bold"/>
                <a:sym typeface="Lato Bold"/>
              </a:rPr>
              <a:t>Borcelle Structural Solutions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347185" y="6003748"/>
            <a:ext cx="2858529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080E15"/>
                </a:solidFill>
                <a:latin typeface="Lato Bold"/>
                <a:ea typeface="Lato Bold"/>
                <a:cs typeface="Lato Bold"/>
                <a:sym typeface="Lato Bold"/>
              </a:rPr>
              <a:t>Fauget Structural Solutions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347185" y="7682876"/>
            <a:ext cx="1828636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pc="420">
                <a:solidFill>
                  <a:srgbClr val="080E15"/>
                </a:solidFill>
                <a:latin typeface="Lato Heavy"/>
                <a:ea typeface="Lato Heavy"/>
                <a:cs typeface="Lato Heavy"/>
                <a:sym typeface="Lato Heavy"/>
              </a:rPr>
              <a:t>SKILLS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347185" y="8236202"/>
            <a:ext cx="2074544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80E15"/>
                </a:solidFill>
                <a:latin typeface="Lato"/>
                <a:ea typeface="Lato"/>
                <a:cs typeface="Lato"/>
                <a:sym typeface="Lato"/>
              </a:rPr>
              <a:t>Computer-Aided Design (CAD)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347185" y="8471138"/>
            <a:ext cx="2074544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80E15"/>
                </a:solidFill>
                <a:latin typeface="Lato"/>
                <a:ea typeface="Lato"/>
                <a:cs typeface="Lato"/>
                <a:sym typeface="Lato"/>
              </a:rPr>
              <a:t>Schedule maintenance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347185" y="8706074"/>
            <a:ext cx="2151919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80E15"/>
                </a:solidFill>
                <a:latin typeface="Lato"/>
                <a:ea typeface="Lato"/>
                <a:cs typeface="Lato"/>
                <a:sym typeface="Lato"/>
              </a:rPr>
              <a:t>ANSI/AISC 360 code knowledge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3347185" y="8941010"/>
            <a:ext cx="2074544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80E15"/>
                </a:solidFill>
                <a:latin typeface="Lato"/>
                <a:ea typeface="Lato"/>
                <a:cs typeface="Lato"/>
                <a:sym typeface="Lato"/>
              </a:rPr>
              <a:t>Sustainable design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347185" y="9414707"/>
            <a:ext cx="2074544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80E15"/>
                </a:solidFill>
                <a:latin typeface="Lato"/>
                <a:ea typeface="Lato"/>
                <a:cs typeface="Lato"/>
                <a:sym typeface="Lato"/>
              </a:rPr>
              <a:t>Wind analysis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347185" y="9175947"/>
            <a:ext cx="2074544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80E15"/>
                </a:solidFill>
                <a:latin typeface="Lato"/>
                <a:ea typeface="Lato"/>
                <a:cs typeface="Lato"/>
                <a:sym typeface="Lato"/>
              </a:rPr>
              <a:t>Communication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347185" y="9649643"/>
            <a:ext cx="2074544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80E15"/>
                </a:solidFill>
                <a:latin typeface="Lato"/>
                <a:ea typeface="Lato"/>
                <a:cs typeface="Lato"/>
                <a:sym typeface="Lato"/>
              </a:rPr>
              <a:t>Blueprint Interpretation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00259" y="5492938"/>
            <a:ext cx="1887747" cy="937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100">
                <a:solidFill>
                  <a:srgbClr val="080E15"/>
                </a:solidFill>
                <a:latin typeface="Lato"/>
                <a:ea typeface="Lato"/>
                <a:cs typeface="Lato"/>
                <a:sym typeface="Lato"/>
              </a:rPr>
              <a:t>+123-456-7890 </a:t>
            </a:r>
          </a:p>
          <a:p>
            <a:pPr algn="l">
              <a:lnSpc>
                <a:spcPts val="1892"/>
              </a:lnSpc>
            </a:pPr>
            <a:r>
              <a:rPr lang="en-US" sz="1100">
                <a:solidFill>
                  <a:srgbClr val="080E15"/>
                </a:solidFill>
                <a:latin typeface="Lato"/>
                <a:ea typeface="Lato"/>
                <a:cs typeface="Lato"/>
                <a:sym typeface="Lato"/>
              </a:rPr>
              <a:t>hello@reallygreatsite.com</a:t>
            </a:r>
          </a:p>
          <a:p>
            <a:pPr algn="l">
              <a:lnSpc>
                <a:spcPts val="1892"/>
              </a:lnSpc>
            </a:pPr>
            <a:r>
              <a:rPr lang="en-US" sz="1100">
                <a:solidFill>
                  <a:srgbClr val="080E15"/>
                </a:solidFill>
                <a:latin typeface="Lato"/>
                <a:ea typeface="Lato"/>
                <a:cs typeface="Lato"/>
                <a:sym typeface="Lato"/>
              </a:rPr>
              <a:t>123 Anywhere St., Any City, ST 12345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635638" y="5492938"/>
            <a:ext cx="240724" cy="698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100" b="true">
                <a:solidFill>
                  <a:srgbClr val="080E15"/>
                </a:solidFill>
                <a:latin typeface="Lato Bold"/>
                <a:ea typeface="Lato Bold"/>
                <a:cs typeface="Lato Bold"/>
                <a:sym typeface="Lato Bold"/>
              </a:rPr>
              <a:t>P</a:t>
            </a:r>
          </a:p>
          <a:p>
            <a:pPr algn="l">
              <a:lnSpc>
                <a:spcPts val="1892"/>
              </a:lnSpc>
            </a:pPr>
            <a:r>
              <a:rPr lang="en-US" sz="1100" b="true">
                <a:solidFill>
                  <a:srgbClr val="080E15"/>
                </a:solidFill>
                <a:latin typeface="Lato Bold"/>
                <a:ea typeface="Lato Bold"/>
                <a:cs typeface="Lato Bold"/>
                <a:sym typeface="Lato Bold"/>
              </a:rPr>
              <a:t>E</a:t>
            </a:r>
          </a:p>
          <a:p>
            <a:pPr algn="l">
              <a:lnSpc>
                <a:spcPts val="1892"/>
              </a:lnSpc>
            </a:pPr>
            <a:r>
              <a:rPr lang="en-US" sz="1100" b="true">
                <a:solidFill>
                  <a:srgbClr val="080E15"/>
                </a:solidFill>
                <a:latin typeface="Lato Bold"/>
                <a:ea typeface="Lato Bold"/>
                <a:cs typeface="Lato Bold"/>
                <a:sym typeface="Lato Bold"/>
              </a:rPr>
              <a:t>A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35638" y="4885205"/>
            <a:ext cx="1932886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pc="420">
                <a:solidFill>
                  <a:srgbClr val="080E15"/>
                </a:solidFill>
                <a:latin typeface="Lato Heavy"/>
                <a:ea typeface="Lato Heavy"/>
                <a:cs typeface="Lato Heavy"/>
                <a:sym typeface="Lato Heavy"/>
              </a:rPr>
              <a:t>CONTACT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35638" y="6883626"/>
            <a:ext cx="1932886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0"/>
              </a:lnSpc>
              <a:spcBef>
                <a:spcPct val="0"/>
              </a:spcBef>
            </a:pPr>
            <a:r>
              <a:rPr lang="en-US" b="true" sz="1400" spc="420" u="none">
                <a:solidFill>
                  <a:srgbClr val="080E15"/>
                </a:solidFill>
                <a:latin typeface="Lato Heavy"/>
                <a:ea typeface="Lato Heavy"/>
                <a:cs typeface="Lato Heavy"/>
                <a:sym typeface="Lato Heavy"/>
              </a:rPr>
              <a:t>EDUCATION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35638" y="7479848"/>
            <a:ext cx="1844499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080E15"/>
                </a:solidFill>
                <a:latin typeface="Lato Bold"/>
                <a:ea typeface="Lato Bold"/>
                <a:cs typeface="Lato Bold"/>
                <a:sym typeface="Lato Bold"/>
              </a:rPr>
              <a:t>Borcelle University</a:t>
            </a:r>
          </a:p>
          <a:p>
            <a:pPr algn="l" marL="0" indent="0" lvl="0">
              <a:lnSpc>
                <a:spcPts val="1679"/>
              </a:lnSpc>
            </a:pPr>
            <a:r>
              <a:rPr lang="en-US" b="true" sz="1200">
                <a:solidFill>
                  <a:srgbClr val="080E15"/>
                </a:solidFill>
                <a:latin typeface="Lato Bold"/>
                <a:ea typeface="Lato Bold"/>
                <a:cs typeface="Lato Bold"/>
                <a:sym typeface="Lato Bold"/>
              </a:rPr>
              <a:t>2009-2013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35638" y="8774613"/>
            <a:ext cx="1844499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true">
                <a:solidFill>
                  <a:srgbClr val="080E15"/>
                </a:solidFill>
                <a:latin typeface="Lato Bold"/>
                <a:ea typeface="Lato Bold"/>
                <a:cs typeface="Lato Bold"/>
                <a:sym typeface="Lato Bold"/>
              </a:rPr>
              <a:t>Borcelle University</a:t>
            </a:r>
          </a:p>
          <a:p>
            <a:pPr algn="l" marL="0" indent="0" lvl="0">
              <a:lnSpc>
                <a:spcPts val="1679"/>
              </a:lnSpc>
            </a:pPr>
            <a:r>
              <a:rPr lang="en-US" b="true" sz="1200">
                <a:solidFill>
                  <a:srgbClr val="080E15"/>
                </a:solidFill>
                <a:latin typeface="Lato Bold"/>
                <a:ea typeface="Lato Bold"/>
                <a:cs typeface="Lato Bold"/>
                <a:sym typeface="Lato Bold"/>
              </a:rPr>
              <a:t>2010-2014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35638" y="8164378"/>
            <a:ext cx="2033289" cy="3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i="true">
                <a:solidFill>
                  <a:srgbClr val="080E15"/>
                </a:solidFill>
                <a:latin typeface="Lato Italics"/>
                <a:ea typeface="Lato Italics"/>
                <a:cs typeface="Lato Italics"/>
                <a:sym typeface="Lato Italics"/>
              </a:rPr>
              <a:t>Master of Science: Structural Engineering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35638" y="9459143"/>
            <a:ext cx="2033289" cy="3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 i="true">
                <a:solidFill>
                  <a:srgbClr val="080E15"/>
                </a:solidFill>
                <a:latin typeface="Lato Italics"/>
                <a:ea typeface="Lato Italics"/>
                <a:cs typeface="Lato Italics"/>
                <a:sym typeface="Lato Italics"/>
              </a:rPr>
              <a:t>Bachelor of Science: Civil Engineering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35638" y="7935143"/>
            <a:ext cx="1954447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80E15"/>
                </a:solidFill>
                <a:latin typeface="Lato"/>
                <a:ea typeface="Lato"/>
                <a:cs typeface="Lato"/>
                <a:sym typeface="Lato"/>
              </a:rPr>
              <a:t>123 Anywhere St., Any City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35638" y="9229908"/>
            <a:ext cx="1954447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80E15"/>
                </a:solidFill>
                <a:latin typeface="Lato"/>
                <a:ea typeface="Lato"/>
                <a:cs typeface="Lato"/>
                <a:sym typeface="Lato"/>
              </a:rPr>
              <a:t>123 Anywhere St., Any 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DAHAXIbTErc</dc:identifier>
  <dcterms:modified xsi:type="dcterms:W3CDTF">2011-08-01T06:04:30Z</dcterms:modified>
  <cp:revision>1</cp:revision>
  <dc:title>Black Minimalist Structural Engineer Resume</dc:title>
</cp:coreProperties>
</file>