
<file path=[Content_Types].xml><?xml version="1.0" encoding="utf-8"?>
<Types xmlns="http://schemas.openxmlformats.org/package/2006/content-types">
  <Default ContentType="application/x-fontdata" Extension="fntdata"/>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Lst>
  <p:sldSz cx="7556500" cy="10693400"/>
  <p:notesSz cx="6858000" cy="9144000"/>
  <p:embeddedFontLst>
    <p:embeddedFont>
      <p:font typeface="Gotham Bold" charset="1" panose="00000000000000000000"/>
      <p:regular r:id="rId7"/>
    </p:embeddedFont>
    <p:embeddedFont>
      <p:font typeface="Gotham" charset="1" panose="00000000000000000000"/>
      <p:regular r:id="rId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fonts/font7.fntdata" Type="http://schemas.openxmlformats.org/officeDocument/2006/relationships/font"/><Relationship Id="rId8" Target="fonts/font8.fntdata" Type="http://schemas.openxmlformats.org/officeDocument/2006/relationships/font"/></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4504235" y="3070570"/>
            <a:ext cx="2439741" cy="165200"/>
          </a:xfrm>
          <a:prstGeom prst="rect">
            <a:avLst/>
          </a:prstGeom>
        </p:spPr>
        <p:txBody>
          <a:bodyPr anchor="t" rtlCol="false" tIns="0" lIns="0" bIns="0" rIns="0">
            <a:spAutoFit/>
          </a:bodyPr>
          <a:lstStyle/>
          <a:p>
            <a:pPr algn="l">
              <a:lnSpc>
                <a:spcPts val="1394"/>
              </a:lnSpc>
              <a:spcBef>
                <a:spcPct val="0"/>
              </a:spcBef>
            </a:pPr>
            <a:r>
              <a:rPr lang="en-US" b="true" sz="996" spc="99">
                <a:solidFill>
                  <a:srgbClr val="000000"/>
                </a:solidFill>
                <a:latin typeface="Gotham Bold"/>
                <a:ea typeface="Gotham Bold"/>
                <a:cs typeface="Gotham Bold"/>
                <a:sym typeface="Gotham Bold"/>
              </a:rPr>
              <a:t>EDUCATION</a:t>
            </a:r>
          </a:p>
        </p:txBody>
      </p:sp>
      <p:sp>
        <p:nvSpPr>
          <p:cNvPr name="TextBox 3" id="3"/>
          <p:cNvSpPr txBox="true"/>
          <p:nvPr/>
        </p:nvSpPr>
        <p:spPr>
          <a:xfrm rot="0">
            <a:off x="616024" y="3070570"/>
            <a:ext cx="2439741" cy="165200"/>
          </a:xfrm>
          <a:prstGeom prst="rect">
            <a:avLst/>
          </a:prstGeom>
        </p:spPr>
        <p:txBody>
          <a:bodyPr anchor="t" rtlCol="false" tIns="0" lIns="0" bIns="0" rIns="0">
            <a:spAutoFit/>
          </a:bodyPr>
          <a:lstStyle/>
          <a:p>
            <a:pPr algn="l">
              <a:lnSpc>
                <a:spcPts val="1394"/>
              </a:lnSpc>
              <a:spcBef>
                <a:spcPct val="0"/>
              </a:spcBef>
            </a:pPr>
            <a:r>
              <a:rPr lang="en-US" b="true" sz="996" spc="99">
                <a:solidFill>
                  <a:srgbClr val="000000"/>
                </a:solidFill>
                <a:latin typeface="Gotham Bold"/>
                <a:ea typeface="Gotham Bold"/>
                <a:cs typeface="Gotham Bold"/>
                <a:sym typeface="Gotham Bold"/>
              </a:rPr>
              <a:t>WORK EXPERIENCE</a:t>
            </a:r>
          </a:p>
        </p:txBody>
      </p:sp>
      <p:sp>
        <p:nvSpPr>
          <p:cNvPr name="TextBox 4" id="4"/>
          <p:cNvSpPr txBox="true"/>
          <p:nvPr/>
        </p:nvSpPr>
        <p:spPr>
          <a:xfrm rot="0">
            <a:off x="616024" y="1672835"/>
            <a:ext cx="2439741" cy="165200"/>
          </a:xfrm>
          <a:prstGeom prst="rect">
            <a:avLst/>
          </a:prstGeom>
        </p:spPr>
        <p:txBody>
          <a:bodyPr anchor="t" rtlCol="false" tIns="0" lIns="0" bIns="0" rIns="0">
            <a:spAutoFit/>
          </a:bodyPr>
          <a:lstStyle/>
          <a:p>
            <a:pPr algn="l">
              <a:lnSpc>
                <a:spcPts val="1394"/>
              </a:lnSpc>
              <a:spcBef>
                <a:spcPct val="0"/>
              </a:spcBef>
            </a:pPr>
            <a:r>
              <a:rPr lang="en-US" b="true" sz="996" spc="99">
                <a:solidFill>
                  <a:srgbClr val="000000"/>
                </a:solidFill>
                <a:latin typeface="Gotham Bold"/>
                <a:ea typeface="Gotham Bold"/>
                <a:cs typeface="Gotham Bold"/>
                <a:sym typeface="Gotham Bold"/>
              </a:rPr>
              <a:t>ABOUT ME</a:t>
            </a:r>
          </a:p>
        </p:txBody>
      </p:sp>
      <p:sp>
        <p:nvSpPr>
          <p:cNvPr name="TextBox 5" id="5"/>
          <p:cNvSpPr txBox="true"/>
          <p:nvPr/>
        </p:nvSpPr>
        <p:spPr>
          <a:xfrm rot="0">
            <a:off x="616024" y="604596"/>
            <a:ext cx="6327953" cy="436218"/>
          </a:xfrm>
          <a:prstGeom prst="rect">
            <a:avLst/>
          </a:prstGeom>
        </p:spPr>
        <p:txBody>
          <a:bodyPr anchor="t" rtlCol="false" tIns="0" lIns="0" bIns="0" rIns="0">
            <a:spAutoFit/>
          </a:bodyPr>
          <a:lstStyle/>
          <a:p>
            <a:pPr algn="l">
              <a:lnSpc>
                <a:spcPts val="3616"/>
              </a:lnSpc>
              <a:spcBef>
                <a:spcPct val="0"/>
              </a:spcBef>
            </a:pPr>
            <a:r>
              <a:rPr lang="en-US" b="true" sz="2583" spc="258">
                <a:solidFill>
                  <a:srgbClr val="000000"/>
                </a:solidFill>
                <a:latin typeface="Gotham Bold"/>
                <a:ea typeface="Gotham Bold"/>
                <a:cs typeface="Gotham Bold"/>
                <a:sym typeface="Gotham Bold"/>
              </a:rPr>
              <a:t>HENRIETTA MITCHELL</a:t>
            </a:r>
          </a:p>
        </p:txBody>
      </p:sp>
      <p:sp>
        <p:nvSpPr>
          <p:cNvPr name="TextBox 6" id="6"/>
          <p:cNvSpPr txBox="true"/>
          <p:nvPr/>
        </p:nvSpPr>
        <p:spPr>
          <a:xfrm rot="0">
            <a:off x="616024" y="1059416"/>
            <a:ext cx="6187976" cy="327032"/>
          </a:xfrm>
          <a:prstGeom prst="rect">
            <a:avLst/>
          </a:prstGeom>
        </p:spPr>
        <p:txBody>
          <a:bodyPr anchor="t" rtlCol="false" tIns="0" lIns="0" bIns="0" rIns="0">
            <a:spAutoFit/>
          </a:bodyPr>
          <a:lstStyle/>
          <a:p>
            <a:pPr algn="l">
              <a:lnSpc>
                <a:spcPts val="2325"/>
              </a:lnSpc>
            </a:pPr>
            <a:r>
              <a:rPr lang="en-US" sz="2583" spc="258">
                <a:solidFill>
                  <a:srgbClr val="000000"/>
                </a:solidFill>
                <a:latin typeface="Gotham"/>
                <a:ea typeface="Gotham"/>
                <a:cs typeface="Gotham"/>
                <a:sym typeface="Gotham"/>
              </a:rPr>
              <a:t>SENIOR MARKETING MANAGER</a:t>
            </a:r>
          </a:p>
        </p:txBody>
      </p:sp>
      <p:sp>
        <p:nvSpPr>
          <p:cNvPr name="TextBox 7" id="7"/>
          <p:cNvSpPr txBox="true"/>
          <p:nvPr/>
        </p:nvSpPr>
        <p:spPr>
          <a:xfrm rot="0">
            <a:off x="4504235" y="1672835"/>
            <a:ext cx="2439741" cy="165200"/>
          </a:xfrm>
          <a:prstGeom prst="rect">
            <a:avLst/>
          </a:prstGeom>
        </p:spPr>
        <p:txBody>
          <a:bodyPr anchor="t" rtlCol="false" tIns="0" lIns="0" bIns="0" rIns="0">
            <a:spAutoFit/>
          </a:bodyPr>
          <a:lstStyle/>
          <a:p>
            <a:pPr algn="l">
              <a:lnSpc>
                <a:spcPts val="1394"/>
              </a:lnSpc>
              <a:spcBef>
                <a:spcPct val="0"/>
              </a:spcBef>
            </a:pPr>
            <a:r>
              <a:rPr lang="en-US" b="true" sz="996" spc="99">
                <a:solidFill>
                  <a:srgbClr val="000000"/>
                </a:solidFill>
                <a:latin typeface="Gotham Bold"/>
                <a:ea typeface="Gotham Bold"/>
                <a:cs typeface="Gotham Bold"/>
                <a:sym typeface="Gotham Bold"/>
              </a:rPr>
              <a:t>CONTACT</a:t>
            </a:r>
          </a:p>
        </p:txBody>
      </p:sp>
      <p:grpSp>
        <p:nvGrpSpPr>
          <p:cNvPr name="Group 8" id="8"/>
          <p:cNvGrpSpPr/>
          <p:nvPr/>
        </p:nvGrpSpPr>
        <p:grpSpPr>
          <a:xfrm rot="0">
            <a:off x="4504235" y="3357055"/>
            <a:ext cx="2439741" cy="2686999"/>
            <a:chOff x="0" y="0"/>
            <a:chExt cx="3252988" cy="3582666"/>
          </a:xfrm>
        </p:grpSpPr>
        <p:sp>
          <p:nvSpPr>
            <p:cNvPr name="TextBox 9" id="9"/>
            <p:cNvSpPr txBox="true"/>
            <p:nvPr/>
          </p:nvSpPr>
          <p:spPr>
            <a:xfrm rot="0">
              <a:off x="0" y="1344512"/>
              <a:ext cx="3252988" cy="213916"/>
            </a:xfrm>
            <a:prstGeom prst="rect">
              <a:avLst/>
            </a:prstGeom>
          </p:spPr>
          <p:txBody>
            <a:bodyPr anchor="t" rtlCol="false" tIns="0" lIns="0" bIns="0" rIns="0">
              <a:spAutoFit/>
            </a:bodyPr>
            <a:lstStyle/>
            <a:p>
              <a:pPr algn="l">
                <a:lnSpc>
                  <a:spcPts val="1394"/>
                </a:lnSpc>
                <a:spcBef>
                  <a:spcPct val="0"/>
                </a:spcBef>
              </a:pPr>
              <a:r>
                <a:rPr lang="en-US" b="true" sz="996" spc="99">
                  <a:solidFill>
                    <a:srgbClr val="000000"/>
                  </a:solidFill>
                  <a:latin typeface="Gotham Bold"/>
                  <a:ea typeface="Gotham Bold"/>
                  <a:cs typeface="Gotham Bold"/>
                  <a:sym typeface="Gotham Bold"/>
                </a:rPr>
                <a:t>SHORT COURSES</a:t>
              </a:r>
            </a:p>
          </p:txBody>
        </p:sp>
        <p:sp>
          <p:nvSpPr>
            <p:cNvPr name="TextBox 10" id="10"/>
            <p:cNvSpPr txBox="true"/>
            <p:nvPr/>
          </p:nvSpPr>
          <p:spPr>
            <a:xfrm rot="0">
              <a:off x="0" y="3087656"/>
              <a:ext cx="3252988" cy="213916"/>
            </a:xfrm>
            <a:prstGeom prst="rect">
              <a:avLst/>
            </a:prstGeom>
          </p:spPr>
          <p:txBody>
            <a:bodyPr anchor="t" rtlCol="false" tIns="0" lIns="0" bIns="0" rIns="0">
              <a:spAutoFit/>
            </a:bodyPr>
            <a:lstStyle/>
            <a:p>
              <a:pPr algn="l">
                <a:lnSpc>
                  <a:spcPts val="1394"/>
                </a:lnSpc>
                <a:spcBef>
                  <a:spcPct val="0"/>
                </a:spcBef>
              </a:pPr>
              <a:r>
                <a:rPr lang="en-US" b="true" sz="996" spc="99">
                  <a:solidFill>
                    <a:srgbClr val="000000"/>
                  </a:solidFill>
                  <a:latin typeface="Gotham Bold"/>
                  <a:ea typeface="Gotham Bold"/>
                  <a:cs typeface="Gotham Bold"/>
                  <a:sym typeface="Gotham Bold"/>
                </a:rPr>
                <a:t>REFERENCES</a:t>
              </a:r>
            </a:p>
          </p:txBody>
        </p:sp>
        <p:sp>
          <p:nvSpPr>
            <p:cNvPr name="TextBox 11" id="11"/>
            <p:cNvSpPr txBox="true"/>
            <p:nvPr/>
          </p:nvSpPr>
          <p:spPr>
            <a:xfrm rot="0">
              <a:off x="0" y="190294"/>
              <a:ext cx="3252988" cy="211455"/>
            </a:xfrm>
            <a:prstGeom prst="rect">
              <a:avLst/>
            </a:prstGeom>
          </p:spPr>
          <p:txBody>
            <a:bodyPr anchor="t" rtlCol="false" tIns="0" lIns="0" bIns="0" rIns="0">
              <a:spAutoFit/>
            </a:bodyPr>
            <a:lstStyle/>
            <a:p>
              <a:pPr algn="l">
                <a:lnSpc>
                  <a:spcPts val="1350"/>
                </a:lnSpc>
              </a:pPr>
              <a:r>
                <a:rPr lang="en-US" sz="900">
                  <a:solidFill>
                    <a:srgbClr val="000000"/>
                  </a:solidFill>
                  <a:latin typeface="Gotham"/>
                  <a:ea typeface="Gotham"/>
                  <a:cs typeface="Gotham"/>
                  <a:sym typeface="Gotham"/>
                </a:rPr>
                <a:t>Warner &amp; Spencer</a:t>
              </a:r>
            </a:p>
          </p:txBody>
        </p:sp>
        <p:sp>
          <p:nvSpPr>
            <p:cNvPr name="TextBox 12" id="12"/>
            <p:cNvSpPr txBox="true"/>
            <p:nvPr/>
          </p:nvSpPr>
          <p:spPr>
            <a:xfrm rot="0">
              <a:off x="0" y="1908038"/>
              <a:ext cx="3252988" cy="211455"/>
            </a:xfrm>
            <a:prstGeom prst="rect">
              <a:avLst/>
            </a:prstGeom>
          </p:spPr>
          <p:txBody>
            <a:bodyPr anchor="t" rtlCol="false" tIns="0" lIns="0" bIns="0" rIns="0">
              <a:spAutoFit/>
            </a:bodyPr>
            <a:lstStyle/>
            <a:p>
              <a:pPr algn="l">
                <a:lnSpc>
                  <a:spcPts val="1350"/>
                </a:lnSpc>
              </a:pPr>
              <a:r>
                <a:rPr lang="en-US" sz="900">
                  <a:solidFill>
                    <a:srgbClr val="000000"/>
                  </a:solidFill>
                  <a:latin typeface="Gotham"/>
                  <a:ea typeface="Gotham"/>
                  <a:cs typeface="Gotham"/>
                  <a:sym typeface="Gotham"/>
                </a:rPr>
                <a:t>Hanover and Tyke</a:t>
              </a:r>
            </a:p>
          </p:txBody>
        </p:sp>
        <p:sp>
          <p:nvSpPr>
            <p:cNvPr name="TextBox 13" id="13"/>
            <p:cNvSpPr txBox="true"/>
            <p:nvPr/>
          </p:nvSpPr>
          <p:spPr>
            <a:xfrm rot="0">
              <a:off x="0" y="771107"/>
              <a:ext cx="3252988" cy="211455"/>
            </a:xfrm>
            <a:prstGeom prst="rect">
              <a:avLst/>
            </a:prstGeom>
          </p:spPr>
          <p:txBody>
            <a:bodyPr anchor="t" rtlCol="false" tIns="0" lIns="0" bIns="0" rIns="0">
              <a:spAutoFit/>
            </a:bodyPr>
            <a:lstStyle/>
            <a:p>
              <a:pPr algn="l">
                <a:lnSpc>
                  <a:spcPts val="1350"/>
                </a:lnSpc>
              </a:pPr>
              <a:r>
                <a:rPr lang="en-US" sz="900">
                  <a:solidFill>
                    <a:srgbClr val="000000"/>
                  </a:solidFill>
                  <a:latin typeface="Gotham"/>
                  <a:ea typeface="Gotham"/>
                  <a:cs typeface="Gotham"/>
                  <a:sym typeface="Gotham"/>
                </a:rPr>
                <a:t>Giggling Platypus Co.</a:t>
              </a:r>
            </a:p>
          </p:txBody>
        </p:sp>
        <p:sp>
          <p:nvSpPr>
            <p:cNvPr name="TextBox 14" id="14"/>
            <p:cNvSpPr txBox="true"/>
            <p:nvPr/>
          </p:nvSpPr>
          <p:spPr>
            <a:xfrm rot="0">
              <a:off x="0" y="2514251"/>
              <a:ext cx="3252988" cy="211455"/>
            </a:xfrm>
            <a:prstGeom prst="rect">
              <a:avLst/>
            </a:prstGeom>
          </p:spPr>
          <p:txBody>
            <a:bodyPr anchor="t" rtlCol="false" tIns="0" lIns="0" bIns="0" rIns="0">
              <a:spAutoFit/>
            </a:bodyPr>
            <a:lstStyle/>
            <a:p>
              <a:pPr algn="l">
                <a:lnSpc>
                  <a:spcPts val="1350"/>
                </a:lnSpc>
              </a:pPr>
              <a:r>
                <a:rPr lang="en-US" sz="900">
                  <a:solidFill>
                    <a:srgbClr val="000000"/>
                  </a:solidFill>
                  <a:latin typeface="Gotham"/>
                  <a:ea typeface="Gotham"/>
                  <a:cs typeface="Gotham"/>
                  <a:sym typeface="Gotham"/>
                </a:rPr>
                <a:t>Hanover and Tyke</a:t>
              </a:r>
            </a:p>
          </p:txBody>
        </p:sp>
        <p:sp>
          <p:nvSpPr>
            <p:cNvPr name="TextBox 15" id="15"/>
            <p:cNvSpPr txBox="true"/>
            <p:nvPr/>
          </p:nvSpPr>
          <p:spPr>
            <a:xfrm rot="0">
              <a:off x="0" y="-28575"/>
              <a:ext cx="3252988" cy="211455"/>
            </a:xfrm>
            <a:prstGeom prst="rect">
              <a:avLst/>
            </a:prstGeom>
          </p:spPr>
          <p:txBody>
            <a:bodyPr anchor="t" rtlCol="false" tIns="0" lIns="0" bIns="0" rIns="0">
              <a:spAutoFit/>
            </a:bodyPr>
            <a:lstStyle/>
            <a:p>
              <a:pPr algn="l">
                <a:lnSpc>
                  <a:spcPts val="1350"/>
                </a:lnSpc>
              </a:pPr>
              <a:r>
                <a:rPr lang="en-US" sz="900" b="true">
                  <a:solidFill>
                    <a:srgbClr val="000000"/>
                  </a:solidFill>
                  <a:latin typeface="Gotham Bold"/>
                  <a:ea typeface="Gotham Bold"/>
                  <a:cs typeface="Gotham Bold"/>
                  <a:sym typeface="Gotham Bold"/>
                </a:rPr>
                <a:t>Master of Media &amp; Communications</a:t>
              </a:r>
            </a:p>
          </p:txBody>
        </p:sp>
        <p:sp>
          <p:nvSpPr>
            <p:cNvPr name="TextBox 16" id="16"/>
            <p:cNvSpPr txBox="true"/>
            <p:nvPr/>
          </p:nvSpPr>
          <p:spPr>
            <a:xfrm rot="0">
              <a:off x="0" y="1689169"/>
              <a:ext cx="3252988" cy="211455"/>
            </a:xfrm>
            <a:prstGeom prst="rect">
              <a:avLst/>
            </a:prstGeom>
          </p:spPr>
          <p:txBody>
            <a:bodyPr anchor="t" rtlCol="false" tIns="0" lIns="0" bIns="0" rIns="0">
              <a:spAutoFit/>
            </a:bodyPr>
            <a:lstStyle/>
            <a:p>
              <a:pPr algn="l">
                <a:lnSpc>
                  <a:spcPts val="1350"/>
                </a:lnSpc>
              </a:pPr>
              <a:r>
                <a:rPr lang="en-US" sz="900" b="true">
                  <a:solidFill>
                    <a:srgbClr val="000000"/>
                  </a:solidFill>
                  <a:latin typeface="Gotham Bold"/>
                  <a:ea typeface="Gotham Bold"/>
                  <a:cs typeface="Gotham Bold"/>
                  <a:sym typeface="Gotham Bold"/>
                </a:rPr>
                <a:t>Artificial Intelligence in Marketing, 2022</a:t>
              </a:r>
            </a:p>
          </p:txBody>
        </p:sp>
        <p:sp>
          <p:nvSpPr>
            <p:cNvPr name="TextBox 17" id="17"/>
            <p:cNvSpPr txBox="true"/>
            <p:nvPr/>
          </p:nvSpPr>
          <p:spPr>
            <a:xfrm rot="0">
              <a:off x="0" y="3371211"/>
              <a:ext cx="3252988" cy="211455"/>
            </a:xfrm>
            <a:prstGeom prst="rect">
              <a:avLst/>
            </a:prstGeom>
          </p:spPr>
          <p:txBody>
            <a:bodyPr anchor="t" rtlCol="false" tIns="0" lIns="0" bIns="0" rIns="0">
              <a:spAutoFit/>
            </a:bodyPr>
            <a:lstStyle/>
            <a:p>
              <a:pPr algn="l">
                <a:lnSpc>
                  <a:spcPts val="1350"/>
                </a:lnSpc>
              </a:pPr>
              <a:r>
                <a:rPr lang="en-US" sz="900">
                  <a:solidFill>
                    <a:srgbClr val="000000"/>
                  </a:solidFill>
                  <a:latin typeface="Gotham"/>
                  <a:ea typeface="Gotham"/>
                  <a:cs typeface="Gotham"/>
                  <a:sym typeface="Gotham"/>
                </a:rPr>
                <a:t>Available on request.</a:t>
              </a:r>
            </a:p>
          </p:txBody>
        </p:sp>
        <p:sp>
          <p:nvSpPr>
            <p:cNvPr name="TextBox 18" id="18"/>
            <p:cNvSpPr txBox="true"/>
            <p:nvPr/>
          </p:nvSpPr>
          <p:spPr>
            <a:xfrm rot="0">
              <a:off x="0" y="552238"/>
              <a:ext cx="3252988" cy="211455"/>
            </a:xfrm>
            <a:prstGeom prst="rect">
              <a:avLst/>
            </a:prstGeom>
          </p:spPr>
          <p:txBody>
            <a:bodyPr anchor="t" rtlCol="false" tIns="0" lIns="0" bIns="0" rIns="0">
              <a:spAutoFit/>
            </a:bodyPr>
            <a:lstStyle/>
            <a:p>
              <a:pPr algn="l">
                <a:lnSpc>
                  <a:spcPts val="1350"/>
                </a:lnSpc>
              </a:pPr>
              <a:r>
                <a:rPr lang="en-US" sz="900" b="true">
                  <a:solidFill>
                    <a:srgbClr val="000000"/>
                  </a:solidFill>
                  <a:latin typeface="Gotham Bold"/>
                  <a:ea typeface="Gotham Bold"/>
                  <a:cs typeface="Gotham Bold"/>
                  <a:sym typeface="Gotham Bold"/>
                </a:rPr>
                <a:t>Bachelor of Business - Marketing Major</a:t>
              </a:r>
            </a:p>
          </p:txBody>
        </p:sp>
        <p:sp>
          <p:nvSpPr>
            <p:cNvPr name="TextBox 19" id="19"/>
            <p:cNvSpPr txBox="true"/>
            <p:nvPr/>
          </p:nvSpPr>
          <p:spPr>
            <a:xfrm rot="0">
              <a:off x="0" y="2295382"/>
              <a:ext cx="3252988" cy="211455"/>
            </a:xfrm>
            <a:prstGeom prst="rect">
              <a:avLst/>
            </a:prstGeom>
          </p:spPr>
          <p:txBody>
            <a:bodyPr anchor="t" rtlCol="false" tIns="0" lIns="0" bIns="0" rIns="0">
              <a:spAutoFit/>
            </a:bodyPr>
            <a:lstStyle/>
            <a:p>
              <a:pPr algn="l">
                <a:lnSpc>
                  <a:spcPts val="1350"/>
                </a:lnSpc>
              </a:pPr>
              <a:r>
                <a:rPr lang="en-US" sz="900" b="true">
                  <a:solidFill>
                    <a:srgbClr val="000000"/>
                  </a:solidFill>
                  <a:latin typeface="Gotham Bold"/>
                  <a:ea typeface="Gotham Bold"/>
                  <a:cs typeface="Gotham Bold"/>
                  <a:sym typeface="Gotham Bold"/>
                </a:rPr>
                <a:t>UX + UI Design, 2021</a:t>
              </a:r>
            </a:p>
          </p:txBody>
        </p:sp>
      </p:grpSp>
      <p:sp>
        <p:nvSpPr>
          <p:cNvPr name="TextBox 20" id="20"/>
          <p:cNvSpPr txBox="true"/>
          <p:nvPr/>
        </p:nvSpPr>
        <p:spPr>
          <a:xfrm rot="0">
            <a:off x="616024" y="1933285"/>
            <a:ext cx="3735812" cy="851535"/>
          </a:xfrm>
          <a:prstGeom prst="rect">
            <a:avLst/>
          </a:prstGeom>
        </p:spPr>
        <p:txBody>
          <a:bodyPr anchor="t" rtlCol="false" tIns="0" lIns="0" bIns="0" rIns="0">
            <a:spAutoFit/>
          </a:bodyPr>
          <a:lstStyle/>
          <a:p>
            <a:pPr algn="l">
              <a:lnSpc>
                <a:spcPts val="1350"/>
              </a:lnSpc>
            </a:pPr>
            <a:r>
              <a:rPr lang="en-US" sz="900">
                <a:solidFill>
                  <a:srgbClr val="000000"/>
                </a:solidFill>
                <a:latin typeface="Gotham"/>
                <a:ea typeface="Gotham"/>
                <a:cs typeface="Gotham"/>
                <a:sym typeface="Gotham"/>
              </a:rPr>
              <a:t>A seasoned marketing team leader with a Master's degree in Media &amp; Communications, recognised for creative problem-solving abilities in crafting compelling campaigns. Committed to fostering a collaborative team environment and dedicated to nurturing the growth and development of team members.</a:t>
            </a:r>
          </a:p>
        </p:txBody>
      </p:sp>
      <p:sp>
        <p:nvSpPr>
          <p:cNvPr name="TextBox 21" id="21"/>
          <p:cNvSpPr txBox="true"/>
          <p:nvPr/>
        </p:nvSpPr>
        <p:spPr>
          <a:xfrm rot="0">
            <a:off x="4504235" y="1933285"/>
            <a:ext cx="2439741" cy="851535"/>
          </a:xfrm>
          <a:prstGeom prst="rect">
            <a:avLst/>
          </a:prstGeom>
        </p:spPr>
        <p:txBody>
          <a:bodyPr anchor="t" rtlCol="false" tIns="0" lIns="0" bIns="0" rIns="0">
            <a:spAutoFit/>
          </a:bodyPr>
          <a:lstStyle/>
          <a:p>
            <a:pPr algn="l">
              <a:lnSpc>
                <a:spcPts val="1350"/>
              </a:lnSpc>
            </a:pPr>
            <a:r>
              <a:rPr lang="en-US" sz="900">
                <a:solidFill>
                  <a:srgbClr val="000000"/>
                </a:solidFill>
                <a:latin typeface="Gotham"/>
                <a:ea typeface="Gotham"/>
                <a:cs typeface="Gotham"/>
                <a:sym typeface="Gotham"/>
              </a:rPr>
              <a:t>Phone Number: +123-456-7890</a:t>
            </a:r>
          </a:p>
          <a:p>
            <a:pPr algn="l">
              <a:lnSpc>
                <a:spcPts val="1350"/>
              </a:lnSpc>
            </a:pPr>
            <a:r>
              <a:rPr lang="en-US" sz="900">
                <a:solidFill>
                  <a:srgbClr val="000000"/>
                </a:solidFill>
                <a:latin typeface="Gotham"/>
                <a:ea typeface="Gotham"/>
                <a:cs typeface="Gotham"/>
                <a:sym typeface="Gotham"/>
              </a:rPr>
              <a:t>Email: </a:t>
            </a:r>
            <a:r>
              <a:rPr lang="en-US" sz="900">
                <a:solidFill>
                  <a:srgbClr val="000000"/>
                </a:solidFill>
                <a:latin typeface="Gotham"/>
                <a:ea typeface="Gotham"/>
                <a:cs typeface="Gotham"/>
                <a:sym typeface="Gotham"/>
              </a:rPr>
              <a:t>hello@reallygreatsite.com</a:t>
            </a:r>
          </a:p>
          <a:p>
            <a:pPr algn="l">
              <a:lnSpc>
                <a:spcPts val="1350"/>
              </a:lnSpc>
            </a:pPr>
            <a:r>
              <a:rPr lang="en-US" sz="900" spc="-18">
                <a:solidFill>
                  <a:srgbClr val="000000"/>
                </a:solidFill>
                <a:latin typeface="Gotham"/>
                <a:ea typeface="Gotham"/>
                <a:cs typeface="Gotham"/>
                <a:sym typeface="Gotham"/>
              </a:rPr>
              <a:t>Social Media Accounts: </a:t>
            </a:r>
            <a:r>
              <a:rPr lang="en-US" sz="900" spc="-18">
                <a:solidFill>
                  <a:srgbClr val="000000"/>
                </a:solidFill>
                <a:latin typeface="Gotham"/>
                <a:ea typeface="Gotham"/>
                <a:cs typeface="Gotham"/>
                <a:sym typeface="Gotham"/>
              </a:rPr>
              <a:t>@reallygreatsite</a:t>
            </a:r>
          </a:p>
          <a:p>
            <a:pPr algn="l">
              <a:lnSpc>
                <a:spcPts val="1350"/>
              </a:lnSpc>
            </a:pPr>
            <a:r>
              <a:rPr lang="en-US" sz="900">
                <a:solidFill>
                  <a:srgbClr val="000000"/>
                </a:solidFill>
                <a:latin typeface="Gotham"/>
                <a:ea typeface="Gotham"/>
                <a:cs typeface="Gotham"/>
                <a:sym typeface="Gotham"/>
              </a:rPr>
              <a:t>Website: www.reallygreatsite.com</a:t>
            </a:r>
          </a:p>
          <a:p>
            <a:pPr algn="l">
              <a:lnSpc>
                <a:spcPts val="1350"/>
              </a:lnSpc>
            </a:pPr>
            <a:r>
              <a:rPr lang="en-US" sz="900">
                <a:solidFill>
                  <a:srgbClr val="000000"/>
                </a:solidFill>
                <a:latin typeface="Gotham"/>
                <a:ea typeface="Gotham"/>
                <a:cs typeface="Gotham"/>
                <a:sym typeface="Gotham"/>
              </a:rPr>
              <a:t>Address: 123 Anywhere St., Any City</a:t>
            </a:r>
          </a:p>
        </p:txBody>
      </p:sp>
      <p:grpSp>
        <p:nvGrpSpPr>
          <p:cNvPr name="Group 22" id="22"/>
          <p:cNvGrpSpPr/>
          <p:nvPr/>
        </p:nvGrpSpPr>
        <p:grpSpPr>
          <a:xfrm rot="0">
            <a:off x="616024" y="3357055"/>
            <a:ext cx="3735812" cy="6362945"/>
            <a:chOff x="0" y="0"/>
            <a:chExt cx="4981082" cy="8483927"/>
          </a:xfrm>
        </p:grpSpPr>
        <p:sp>
          <p:nvSpPr>
            <p:cNvPr name="TextBox 23" id="23"/>
            <p:cNvSpPr txBox="true"/>
            <p:nvPr/>
          </p:nvSpPr>
          <p:spPr>
            <a:xfrm rot="0">
              <a:off x="0" y="-9525"/>
              <a:ext cx="4981082" cy="375285"/>
            </a:xfrm>
            <a:prstGeom prst="rect">
              <a:avLst/>
            </a:prstGeom>
          </p:spPr>
          <p:txBody>
            <a:bodyPr anchor="t" rtlCol="false" tIns="0" lIns="0" bIns="0" rIns="0">
              <a:spAutoFit/>
            </a:bodyPr>
            <a:lstStyle/>
            <a:p>
              <a:pPr algn="l">
                <a:lnSpc>
                  <a:spcPts val="1170"/>
                </a:lnSpc>
              </a:pPr>
              <a:r>
                <a:rPr lang="en-US" sz="900" b="true">
                  <a:solidFill>
                    <a:srgbClr val="000000"/>
                  </a:solidFill>
                  <a:latin typeface="Gotham Bold"/>
                  <a:ea typeface="Gotham Bold"/>
                  <a:cs typeface="Gotham Bold"/>
                  <a:sym typeface="Gotham Bold"/>
                </a:rPr>
                <a:t>Senior Marketing &amp; Advertising Manager</a:t>
              </a:r>
            </a:p>
            <a:p>
              <a:pPr algn="l">
                <a:lnSpc>
                  <a:spcPts val="1170"/>
                </a:lnSpc>
              </a:pPr>
              <a:r>
                <a:rPr lang="en-US" sz="900" b="true">
                  <a:solidFill>
                    <a:srgbClr val="000000"/>
                  </a:solidFill>
                  <a:latin typeface="Gotham Bold"/>
                  <a:ea typeface="Gotham Bold"/>
                  <a:cs typeface="Gotham Bold"/>
                  <a:sym typeface="Gotham Bold"/>
                </a:rPr>
                <a:t>Aldenaire &amp; Partners</a:t>
              </a:r>
            </a:p>
          </p:txBody>
        </p:sp>
        <p:sp>
          <p:nvSpPr>
            <p:cNvPr name="TextBox 24" id="24"/>
            <p:cNvSpPr txBox="true"/>
            <p:nvPr/>
          </p:nvSpPr>
          <p:spPr>
            <a:xfrm rot="0">
              <a:off x="0" y="468842"/>
              <a:ext cx="4981082" cy="184785"/>
            </a:xfrm>
            <a:prstGeom prst="rect">
              <a:avLst/>
            </a:prstGeom>
          </p:spPr>
          <p:txBody>
            <a:bodyPr anchor="t" rtlCol="false" tIns="0" lIns="0" bIns="0" rIns="0">
              <a:spAutoFit/>
            </a:bodyPr>
            <a:lstStyle/>
            <a:p>
              <a:pPr algn="l">
                <a:lnSpc>
                  <a:spcPts val="1170"/>
                </a:lnSpc>
              </a:pPr>
              <a:r>
                <a:rPr lang="en-US" sz="900">
                  <a:solidFill>
                    <a:srgbClr val="000000"/>
                  </a:solidFill>
                  <a:latin typeface="Gotham"/>
                  <a:ea typeface="Gotham"/>
                  <a:cs typeface="Gotham"/>
                  <a:sym typeface="Gotham"/>
                </a:rPr>
                <a:t>May 2020 - Present</a:t>
              </a:r>
            </a:p>
          </p:txBody>
        </p:sp>
        <p:sp>
          <p:nvSpPr>
            <p:cNvPr name="TextBox 25" id="25"/>
            <p:cNvSpPr txBox="true"/>
            <p:nvPr/>
          </p:nvSpPr>
          <p:spPr>
            <a:xfrm rot="0">
              <a:off x="0" y="739352"/>
              <a:ext cx="4981082" cy="2040255"/>
            </a:xfrm>
            <a:prstGeom prst="rect">
              <a:avLst/>
            </a:prstGeom>
          </p:spPr>
          <p:txBody>
            <a:bodyPr anchor="t" rtlCol="false" tIns="0" lIns="0" bIns="0" rIns="0">
              <a:spAutoFit/>
            </a:bodyPr>
            <a:lstStyle/>
            <a:p>
              <a:pPr algn="l" marL="194310" indent="-97155" lvl="1">
                <a:lnSpc>
                  <a:spcPts val="1350"/>
                </a:lnSpc>
                <a:buFont typeface="Arial"/>
                <a:buChar char="•"/>
              </a:pPr>
              <a:r>
                <a:rPr lang="en-US" sz="900">
                  <a:solidFill>
                    <a:srgbClr val="000000"/>
                  </a:solidFill>
                  <a:latin typeface="Gotham"/>
                  <a:ea typeface="Gotham"/>
                  <a:cs typeface="Gotham"/>
                  <a:sym typeface="Gotham"/>
                </a:rPr>
                <a:t>Effectively developed marketing tactics and managed marketing relationships with essential Licensing and International partners.</a:t>
              </a:r>
            </a:p>
            <a:p>
              <a:pPr algn="l" marL="194310" indent="-97155" lvl="1">
                <a:lnSpc>
                  <a:spcPts val="1350"/>
                </a:lnSpc>
                <a:buFont typeface="Arial"/>
                <a:buChar char="•"/>
              </a:pPr>
              <a:r>
                <a:rPr lang="en-US" sz="900">
                  <a:solidFill>
                    <a:srgbClr val="000000"/>
                  </a:solidFill>
                  <a:latin typeface="Gotham"/>
                  <a:ea typeface="Gotham"/>
                  <a:cs typeface="Gotham"/>
                  <a:sym typeface="Gotham"/>
                </a:rPr>
                <a:t>Ensured that all trade and consumer facing strategies were integrated by creating sell sheets and other materials.</a:t>
              </a:r>
            </a:p>
            <a:p>
              <a:pPr algn="l" marL="194310" indent="-97155" lvl="1">
                <a:lnSpc>
                  <a:spcPts val="1350"/>
                </a:lnSpc>
                <a:buFont typeface="Arial"/>
                <a:buChar char="•"/>
              </a:pPr>
              <a:r>
                <a:rPr lang="en-US" sz="900">
                  <a:solidFill>
                    <a:srgbClr val="000000"/>
                  </a:solidFill>
                  <a:latin typeface="Gotham"/>
                  <a:ea typeface="Gotham"/>
                  <a:cs typeface="Gotham"/>
                  <a:sym typeface="Gotham"/>
                </a:rPr>
                <a:t>Managed an event budget, facilitated eight trade shows and ensured events were effectively and consistently used to drive marketing results. </a:t>
              </a:r>
            </a:p>
            <a:p>
              <a:pPr algn="l" marL="194310" indent="-97155" lvl="1">
                <a:lnSpc>
                  <a:spcPts val="1350"/>
                </a:lnSpc>
                <a:buFont typeface="Arial"/>
                <a:buChar char="•"/>
              </a:pPr>
              <a:r>
                <a:rPr lang="en-US" sz="900">
                  <a:solidFill>
                    <a:srgbClr val="000000"/>
                  </a:solidFill>
                  <a:latin typeface="Gotham"/>
                  <a:ea typeface="Gotham"/>
                  <a:cs typeface="Gotham"/>
                  <a:sym typeface="Gotham"/>
                </a:rPr>
                <a:t>Met and exceeded all targets nationwide on every campaign. </a:t>
              </a:r>
            </a:p>
          </p:txBody>
        </p:sp>
        <p:sp>
          <p:nvSpPr>
            <p:cNvPr name="TextBox 26" id="26"/>
            <p:cNvSpPr txBox="true"/>
            <p:nvPr/>
          </p:nvSpPr>
          <p:spPr>
            <a:xfrm rot="0">
              <a:off x="0" y="3031182"/>
              <a:ext cx="4981082" cy="375285"/>
            </a:xfrm>
            <a:prstGeom prst="rect">
              <a:avLst/>
            </a:prstGeom>
          </p:spPr>
          <p:txBody>
            <a:bodyPr anchor="t" rtlCol="false" tIns="0" lIns="0" bIns="0" rIns="0">
              <a:spAutoFit/>
            </a:bodyPr>
            <a:lstStyle/>
            <a:p>
              <a:pPr algn="l">
                <a:lnSpc>
                  <a:spcPts val="1170"/>
                </a:lnSpc>
              </a:pPr>
              <a:r>
                <a:rPr lang="en-US" sz="900" b="true">
                  <a:solidFill>
                    <a:srgbClr val="000000"/>
                  </a:solidFill>
                  <a:latin typeface="Gotham Bold"/>
                  <a:ea typeface="Gotham Bold"/>
                  <a:cs typeface="Gotham Bold"/>
                  <a:sym typeface="Gotham Bold"/>
                </a:rPr>
                <a:t>Marketing Manager, Digital Content and Merchandising</a:t>
              </a:r>
            </a:p>
            <a:p>
              <a:pPr algn="l">
                <a:lnSpc>
                  <a:spcPts val="1170"/>
                </a:lnSpc>
              </a:pPr>
              <a:r>
                <a:rPr lang="en-US" sz="900" b="true">
                  <a:solidFill>
                    <a:srgbClr val="000000"/>
                  </a:solidFill>
                  <a:latin typeface="Gotham Bold"/>
                  <a:ea typeface="Gotham Bold"/>
                  <a:cs typeface="Gotham Bold"/>
                  <a:sym typeface="Gotham Bold"/>
                </a:rPr>
                <a:t>Salford &amp; Co.</a:t>
              </a:r>
            </a:p>
          </p:txBody>
        </p:sp>
        <p:sp>
          <p:nvSpPr>
            <p:cNvPr name="TextBox 27" id="27"/>
            <p:cNvSpPr txBox="true"/>
            <p:nvPr/>
          </p:nvSpPr>
          <p:spPr>
            <a:xfrm rot="0">
              <a:off x="0" y="3509548"/>
              <a:ext cx="4981082" cy="184785"/>
            </a:xfrm>
            <a:prstGeom prst="rect">
              <a:avLst/>
            </a:prstGeom>
          </p:spPr>
          <p:txBody>
            <a:bodyPr anchor="t" rtlCol="false" tIns="0" lIns="0" bIns="0" rIns="0">
              <a:spAutoFit/>
            </a:bodyPr>
            <a:lstStyle/>
            <a:p>
              <a:pPr algn="l">
                <a:lnSpc>
                  <a:spcPts val="1170"/>
                </a:lnSpc>
              </a:pPr>
              <a:r>
                <a:rPr lang="en-US" sz="900">
                  <a:solidFill>
                    <a:srgbClr val="000000"/>
                  </a:solidFill>
                  <a:latin typeface="Gotham"/>
                  <a:ea typeface="Gotham"/>
                  <a:cs typeface="Gotham"/>
                  <a:sym typeface="Gotham"/>
                </a:rPr>
                <a:t>April 2017 - March 2019</a:t>
              </a:r>
            </a:p>
          </p:txBody>
        </p:sp>
        <p:sp>
          <p:nvSpPr>
            <p:cNvPr name="TextBox 28" id="28"/>
            <p:cNvSpPr txBox="true"/>
            <p:nvPr/>
          </p:nvSpPr>
          <p:spPr>
            <a:xfrm rot="0">
              <a:off x="0" y="3780058"/>
              <a:ext cx="4981082" cy="1354455"/>
            </a:xfrm>
            <a:prstGeom prst="rect">
              <a:avLst/>
            </a:prstGeom>
          </p:spPr>
          <p:txBody>
            <a:bodyPr anchor="t" rtlCol="false" tIns="0" lIns="0" bIns="0" rIns="0">
              <a:spAutoFit/>
            </a:bodyPr>
            <a:lstStyle/>
            <a:p>
              <a:pPr algn="l" marL="194310" indent="-97155" lvl="1">
                <a:lnSpc>
                  <a:spcPts val="1350"/>
                </a:lnSpc>
                <a:buFont typeface="Arial"/>
                <a:buChar char="•"/>
              </a:pPr>
              <a:r>
                <a:rPr lang="en-US" sz="900">
                  <a:solidFill>
                    <a:srgbClr val="000000"/>
                  </a:solidFill>
                  <a:latin typeface="Gotham"/>
                  <a:ea typeface="Gotham"/>
                  <a:cs typeface="Gotham"/>
                  <a:sym typeface="Gotham"/>
                </a:rPr>
                <a:t>Developed and effectively implemented site merchandising strategies that led to increased sales for eight straight quarters.</a:t>
              </a:r>
            </a:p>
            <a:p>
              <a:pPr algn="l" marL="194310" indent="-97155" lvl="1">
                <a:lnSpc>
                  <a:spcPts val="1350"/>
                </a:lnSpc>
                <a:buFont typeface="Arial"/>
                <a:buChar char="•"/>
              </a:pPr>
              <a:r>
                <a:rPr lang="en-US" sz="900">
                  <a:solidFill>
                    <a:srgbClr val="000000"/>
                  </a:solidFill>
                  <a:latin typeface="Gotham"/>
                  <a:ea typeface="Gotham"/>
                  <a:cs typeface="Gotham"/>
                  <a:sym typeface="Gotham"/>
                </a:rPr>
                <a:t>Recognised improvement opportunities across the user journey and developed brand-specific content strategies.</a:t>
              </a:r>
            </a:p>
            <a:p>
              <a:pPr algn="l" marL="194310" indent="-97155" lvl="1">
                <a:lnSpc>
                  <a:spcPts val="1350"/>
                </a:lnSpc>
                <a:buFont typeface="Arial"/>
                <a:buChar char="•"/>
              </a:pPr>
              <a:r>
                <a:rPr lang="en-US" sz="900">
                  <a:solidFill>
                    <a:srgbClr val="000000"/>
                  </a:solidFill>
                  <a:latin typeface="Gotham"/>
                  <a:ea typeface="Gotham"/>
                  <a:cs typeface="Gotham"/>
                  <a:sym typeface="Gotham"/>
                </a:rPr>
                <a:t>Created a quarterly playbook to support product launches.</a:t>
              </a:r>
            </a:p>
          </p:txBody>
        </p:sp>
        <p:sp>
          <p:nvSpPr>
            <p:cNvPr name="TextBox 29" id="29"/>
            <p:cNvSpPr txBox="true"/>
            <p:nvPr/>
          </p:nvSpPr>
          <p:spPr>
            <a:xfrm rot="0">
              <a:off x="0" y="5391688"/>
              <a:ext cx="4981082" cy="375285"/>
            </a:xfrm>
            <a:prstGeom prst="rect">
              <a:avLst/>
            </a:prstGeom>
          </p:spPr>
          <p:txBody>
            <a:bodyPr anchor="t" rtlCol="false" tIns="0" lIns="0" bIns="0" rIns="0">
              <a:spAutoFit/>
            </a:bodyPr>
            <a:lstStyle/>
            <a:p>
              <a:pPr algn="l">
                <a:lnSpc>
                  <a:spcPts val="1170"/>
                </a:lnSpc>
              </a:pPr>
              <a:r>
                <a:rPr lang="en-US" sz="900" b="true">
                  <a:solidFill>
                    <a:srgbClr val="000000"/>
                  </a:solidFill>
                  <a:latin typeface="Gotham Bold"/>
                  <a:ea typeface="Gotham Bold"/>
                  <a:cs typeface="Gotham Bold"/>
                  <a:sym typeface="Gotham Bold"/>
                </a:rPr>
                <a:t>Digital Advertising Operations Executive</a:t>
              </a:r>
            </a:p>
            <a:p>
              <a:pPr algn="l">
                <a:lnSpc>
                  <a:spcPts val="1170"/>
                </a:lnSpc>
              </a:pPr>
              <a:r>
                <a:rPr lang="en-US" sz="900" b="true">
                  <a:solidFill>
                    <a:srgbClr val="000000"/>
                  </a:solidFill>
                  <a:latin typeface="Gotham Bold"/>
                  <a:ea typeface="Gotham Bold"/>
                  <a:cs typeface="Gotham Bold"/>
                  <a:sym typeface="Gotham Bold"/>
                </a:rPr>
                <a:t>Thynk Unlimited</a:t>
              </a:r>
            </a:p>
          </p:txBody>
        </p:sp>
        <p:sp>
          <p:nvSpPr>
            <p:cNvPr name="TextBox 30" id="30"/>
            <p:cNvSpPr txBox="true"/>
            <p:nvPr/>
          </p:nvSpPr>
          <p:spPr>
            <a:xfrm rot="0">
              <a:off x="0" y="5870055"/>
              <a:ext cx="4981082" cy="184785"/>
            </a:xfrm>
            <a:prstGeom prst="rect">
              <a:avLst/>
            </a:prstGeom>
          </p:spPr>
          <p:txBody>
            <a:bodyPr anchor="t" rtlCol="false" tIns="0" lIns="0" bIns="0" rIns="0">
              <a:spAutoFit/>
            </a:bodyPr>
            <a:lstStyle/>
            <a:p>
              <a:pPr algn="l">
                <a:lnSpc>
                  <a:spcPts val="1170"/>
                </a:lnSpc>
              </a:pPr>
              <a:r>
                <a:rPr lang="en-US" sz="900">
                  <a:solidFill>
                    <a:srgbClr val="000000"/>
                  </a:solidFill>
                  <a:latin typeface="Gotham"/>
                  <a:ea typeface="Gotham"/>
                  <a:cs typeface="Gotham"/>
                  <a:sym typeface="Gotham"/>
                </a:rPr>
                <a:t>June 2016 - April 2017</a:t>
              </a:r>
            </a:p>
          </p:txBody>
        </p:sp>
        <p:sp>
          <p:nvSpPr>
            <p:cNvPr name="TextBox 31" id="31"/>
            <p:cNvSpPr txBox="true"/>
            <p:nvPr/>
          </p:nvSpPr>
          <p:spPr>
            <a:xfrm rot="0">
              <a:off x="0" y="6140565"/>
              <a:ext cx="4981082" cy="897255"/>
            </a:xfrm>
            <a:prstGeom prst="rect">
              <a:avLst/>
            </a:prstGeom>
          </p:spPr>
          <p:txBody>
            <a:bodyPr anchor="t" rtlCol="false" tIns="0" lIns="0" bIns="0" rIns="0">
              <a:spAutoFit/>
            </a:bodyPr>
            <a:lstStyle/>
            <a:p>
              <a:pPr algn="l">
                <a:lnSpc>
                  <a:spcPts val="1350"/>
                </a:lnSpc>
              </a:pPr>
              <a:r>
                <a:rPr lang="en-US" sz="900">
                  <a:solidFill>
                    <a:srgbClr val="000000"/>
                  </a:solidFill>
                  <a:latin typeface="Gotham"/>
                  <a:ea typeface="Gotham"/>
                  <a:cs typeface="Gotham"/>
                  <a:sym typeface="Gotham"/>
                </a:rPr>
                <a:t>Provided exceptional customer support that resulted in repeat and increased business from six new advertisers. Was awarded team member of the year for my deep understanding of the new clients’ unique advertising needs and goals.</a:t>
              </a:r>
            </a:p>
          </p:txBody>
        </p:sp>
        <p:sp>
          <p:nvSpPr>
            <p:cNvPr name="TextBox 32" id="32"/>
            <p:cNvSpPr txBox="true"/>
            <p:nvPr/>
          </p:nvSpPr>
          <p:spPr>
            <a:xfrm rot="0">
              <a:off x="0" y="7294995"/>
              <a:ext cx="4981082" cy="375285"/>
            </a:xfrm>
            <a:prstGeom prst="rect">
              <a:avLst/>
            </a:prstGeom>
          </p:spPr>
          <p:txBody>
            <a:bodyPr anchor="t" rtlCol="false" tIns="0" lIns="0" bIns="0" rIns="0">
              <a:spAutoFit/>
            </a:bodyPr>
            <a:lstStyle/>
            <a:p>
              <a:pPr algn="l">
                <a:lnSpc>
                  <a:spcPts val="1170"/>
                </a:lnSpc>
              </a:pPr>
              <a:r>
                <a:rPr lang="en-US" sz="900" b="true">
                  <a:solidFill>
                    <a:srgbClr val="000000"/>
                  </a:solidFill>
                  <a:latin typeface="Gotham Bold"/>
                  <a:ea typeface="Gotham Bold"/>
                  <a:cs typeface="Gotham Bold"/>
                  <a:sym typeface="Gotham Bold"/>
                </a:rPr>
                <a:t>Digital Advertising Intern</a:t>
              </a:r>
            </a:p>
            <a:p>
              <a:pPr algn="l">
                <a:lnSpc>
                  <a:spcPts val="1170"/>
                </a:lnSpc>
              </a:pPr>
              <a:r>
                <a:rPr lang="en-US" sz="900" b="true">
                  <a:solidFill>
                    <a:srgbClr val="000000"/>
                  </a:solidFill>
                  <a:latin typeface="Gotham Bold"/>
                  <a:ea typeface="Gotham Bold"/>
                  <a:cs typeface="Gotham Bold"/>
                  <a:sym typeface="Gotham Bold"/>
                </a:rPr>
                <a:t>Thynk Unlimited</a:t>
              </a:r>
            </a:p>
          </p:txBody>
        </p:sp>
        <p:sp>
          <p:nvSpPr>
            <p:cNvPr name="TextBox 33" id="33"/>
            <p:cNvSpPr txBox="true"/>
            <p:nvPr/>
          </p:nvSpPr>
          <p:spPr>
            <a:xfrm rot="0">
              <a:off x="0" y="7773362"/>
              <a:ext cx="4981082" cy="184785"/>
            </a:xfrm>
            <a:prstGeom prst="rect">
              <a:avLst/>
            </a:prstGeom>
          </p:spPr>
          <p:txBody>
            <a:bodyPr anchor="t" rtlCol="false" tIns="0" lIns="0" bIns="0" rIns="0">
              <a:spAutoFit/>
            </a:bodyPr>
            <a:lstStyle/>
            <a:p>
              <a:pPr algn="l">
                <a:lnSpc>
                  <a:spcPts val="1170"/>
                </a:lnSpc>
              </a:pPr>
              <a:r>
                <a:rPr lang="en-US" sz="900">
                  <a:solidFill>
                    <a:srgbClr val="000000"/>
                  </a:solidFill>
                  <a:latin typeface="Gotham"/>
                  <a:ea typeface="Gotham"/>
                  <a:cs typeface="Gotham"/>
                  <a:sym typeface="Gotham"/>
                </a:rPr>
                <a:t>April 2016 - May 2016</a:t>
              </a:r>
            </a:p>
          </p:txBody>
        </p:sp>
        <p:sp>
          <p:nvSpPr>
            <p:cNvPr name="TextBox 34" id="34"/>
            <p:cNvSpPr txBox="true"/>
            <p:nvPr/>
          </p:nvSpPr>
          <p:spPr>
            <a:xfrm rot="0">
              <a:off x="0" y="8043872"/>
              <a:ext cx="4981082" cy="440055"/>
            </a:xfrm>
            <a:prstGeom prst="rect">
              <a:avLst/>
            </a:prstGeom>
          </p:spPr>
          <p:txBody>
            <a:bodyPr anchor="t" rtlCol="false" tIns="0" lIns="0" bIns="0" rIns="0">
              <a:spAutoFit/>
            </a:bodyPr>
            <a:lstStyle/>
            <a:p>
              <a:pPr algn="l">
                <a:lnSpc>
                  <a:spcPts val="1350"/>
                </a:lnSpc>
              </a:pPr>
              <a:r>
                <a:rPr lang="en-US" sz="900">
                  <a:solidFill>
                    <a:srgbClr val="000000"/>
                  </a:solidFill>
                  <a:latin typeface="Gotham"/>
                  <a:ea typeface="Gotham"/>
                  <a:cs typeface="Gotham"/>
                  <a:sym typeface="Gotham"/>
                </a:rPr>
                <a:t>Established and maintained excellent relationships with strategic partners internally and externally, and exceeded all targets.</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DAHAXKA7uO0</dc:identifier>
  <dcterms:modified xsi:type="dcterms:W3CDTF">2011-08-01T06:04:30Z</dcterms:modified>
  <cp:revision>1</cp:revision>
  <dc:title>Black White Bold Modern Marketing Resume</dc:title>
</cp:coreProperties>
</file>